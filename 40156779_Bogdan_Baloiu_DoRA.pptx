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6" r:id="rId11"/>
    <p:sldId id="267" r:id="rId12"/>
    <p:sldId id="268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6B415-79FA-6F4F-760C-64C4500A61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CE8D48-AE35-BA2E-386D-6060981328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002DC-58C7-7F10-6445-78C841D6B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966C7-3929-423E-A004-48D60B55C27D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B30141-3DD8-B3A5-0972-6B63569AD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1D3F17-16BA-A612-B1F0-F5491903E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4304D-DBFD-4AA7-8916-E9DDA17595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986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028C1-1270-87D3-8191-D2CDD02CA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B3C10-F641-9491-B49A-91C69EB3BA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06DE8F-DA06-FDFF-3B48-8E0A8D173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966C7-3929-423E-A004-48D60B55C27D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85EBC-0888-E363-01BB-40D01F9B5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EEE7B-7B17-6B70-EAE4-A8DD2BCB9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4304D-DBFD-4AA7-8916-E9DDA17595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920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67E28-88AF-2F56-D4FE-A94A11C9F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CA87B1-F54D-7B63-7C4D-3B70B7C601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1104A-1AC3-B625-A4EE-4248EFCF2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966C7-3929-423E-A004-48D60B55C27D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29BDFE-6293-AD93-E244-13A45EE25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84D3D9-B133-AF9C-BD31-AAB041874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4304D-DBFD-4AA7-8916-E9DDA17595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405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1EBEB-89CB-E16A-A89B-A5741549C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24DD8-5EDA-D9C5-392D-5989952794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92398C-D1E1-F05D-B90A-979134790A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04518A-D7BD-AD61-3CF0-7976678DC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966C7-3929-423E-A004-48D60B55C27D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7D6141-C331-4E4D-1E13-5BF2F2407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161D35-27F9-A6EF-4694-0D581E031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4304D-DBFD-4AA7-8916-E9DDA17595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154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A7E0C-F204-B1FC-6C8D-8A3ACE071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5577FA-B585-7A3A-A43E-18802999EF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DC9DDD-5E5D-B6CB-0A3A-9EF0B22E17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4E6999-342A-C757-6E37-E08EF1687B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2A0FF0-15B0-C20D-4BCD-F45521F534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E94B4B-7A34-1F15-9A58-70722A9E1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966C7-3929-423E-A004-48D60B55C27D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1FEAD-5A96-7B32-EC07-4C4034D15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7EA727-32D8-3DC1-FE37-71A145C84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4304D-DBFD-4AA7-8916-E9DDA17595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339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C1C9D-4441-79E2-A07E-1357964DC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DCDA51-386A-B36C-DFE3-43D21A6F2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966C7-3929-423E-A004-48D60B55C27D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1E9531-0C38-DD5F-3836-90D4E6A56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59D1C9-9FEA-094F-147D-9C802F57E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4304D-DBFD-4AA7-8916-E9DDA17595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166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6536FF-ACD0-05BA-259C-989B225F9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966C7-3929-423E-A004-48D60B55C27D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900F31-B597-94D6-9364-5F0C493B1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564275-3A1B-1B69-F00C-B3CFCFA17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4304D-DBFD-4AA7-8916-E9DDA17595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778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9E406-6F5D-08BB-12A2-B9F962405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FF7EA-B063-A92B-59F9-607030AD01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56EEC9-B749-D883-F575-47A9A0AA83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E77557-4128-64FB-8BE6-71AA16577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966C7-3929-423E-A004-48D60B55C27D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70897E-21D8-EA19-8347-A7EF6DDF1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45A7BE-C639-C48F-D707-2DFE7583D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4304D-DBFD-4AA7-8916-E9DDA17595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300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DC251-F9B2-F296-AD75-DD992F1E4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86B0B6-CF3C-2FAE-145A-3DF1C7570C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80F376-B569-9FCF-2E42-AD0308CD0A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29FBC6-7E5C-8C23-1E7C-530E83A4C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966C7-3929-423E-A004-48D60B55C27D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DEAD14-7D16-0FBF-4EBE-D111C72C8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8589E1-C3C5-BBCC-CFF0-4C1905A4A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4304D-DBFD-4AA7-8916-E9DDA17595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257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D9805-854B-0403-080D-2C1ED38BD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DFC3BD-9D06-F84F-9F35-55A456CDA9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88EE2B-D145-467F-F262-90861E8A7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966C7-3929-423E-A004-48D60B55C27D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4C448F-B795-E9EA-790D-EF0700B93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A8BA5-64FD-5B5A-D5AB-D829BF879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4304D-DBFD-4AA7-8916-E9DDA17595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445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7810D6-3624-4301-DDE8-DFF32B98E8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1B264D-F97A-CE43-3E70-1DA0C6E1CC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4E6F3-BC52-A4D4-F0EA-F713F68D8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966C7-3929-423E-A004-48D60B55C27D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AA6B9-74D8-5C95-CFE8-79A747814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BCBAFF-BD34-42C7-CF48-4FEB7A144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4304D-DBFD-4AA7-8916-E9DDA17595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793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8BFD77-FD3B-1A36-1EC5-9C8AB7EB5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916149-94FA-EDCD-A04C-8049D26208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5B05EC-2E82-4B80-DE59-7F824E836E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7966C7-3929-423E-A004-48D60B55C27D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A51397-C4CF-B33E-279E-B74C2DE3FD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109B7-F9EC-8656-2564-84EECF594B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E4304D-DBFD-4AA7-8916-E9DDA17595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754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ilydoseofds.com/implementing-dora-an-improved-lora-from-scratch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hyperlink" Target="https://magazine.sebastianraschka.com/p/practical-tips-for-finetuning-llms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agazine.sebastianraschka.com/p/practical-tips-for-finetuning-llms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arxiv.org/pdf/2106.09685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magazine.sebastianraschka.com/p/practical-tips-for-finetuning-llms" TargetMode="External"/><Relationship Id="rId4" Type="http://schemas.openxmlformats.org/officeDocument/2006/relationships/hyperlink" Target="https://arxiv.org/pdf/2402.09353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magazine.sebastianraschka.com/p/practical-tips-for-finetuning-llms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FC3E3-9D80-504A-A44E-FABAB28B9E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DoRA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C1F571-E1C3-F8CF-E208-9F6C9E1F62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30180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Weight-Decomposed Low-Rank Adaptation</a:t>
            </a:r>
          </a:p>
          <a:p>
            <a:r>
              <a:rPr lang="en-US" dirty="0"/>
              <a:t>Improving Low-Rank Adaptation of Large Language Models (</a:t>
            </a:r>
            <a:r>
              <a:rPr lang="en-US" dirty="0" err="1"/>
              <a:t>LoRA</a:t>
            </a:r>
            <a:r>
              <a:rPr lang="en-US" dirty="0"/>
              <a:t>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1800" dirty="0"/>
              <a:t>Bogdan Baloiu (40156779)</a:t>
            </a:r>
          </a:p>
        </p:txBody>
      </p:sp>
    </p:spTree>
    <p:extLst>
      <p:ext uri="{BB962C8B-B14F-4D97-AF65-F5344CB8AC3E}">
        <p14:creationId xmlns:p14="http://schemas.microsoft.com/office/powerpoint/2010/main" val="4017827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45496-1179-A7CD-D5CB-5616FE7D8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Purpose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050273-73D2-6941-1746-BD7BD06BB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122" y="2233561"/>
            <a:ext cx="8195032" cy="407833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210D9-6972-7619-69DC-015B0BD9D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23713" cy="4813714"/>
          </a:xfrm>
        </p:spPr>
        <p:txBody>
          <a:bodyPr>
            <a:normAutofit/>
          </a:bodyPr>
          <a:lstStyle/>
          <a:p>
            <a:r>
              <a:rPr lang="en-US" dirty="0"/>
              <a:t>Save GPU memory </a:t>
            </a:r>
          </a:p>
          <a:p>
            <a:pPr lvl="1"/>
            <a:r>
              <a:rPr lang="en-US" dirty="0"/>
              <a:t>BERT-base: 110M parameters</a:t>
            </a:r>
          </a:p>
          <a:p>
            <a:pPr lvl="1"/>
            <a:r>
              <a:rPr lang="en-US" dirty="0"/>
              <a:t>BERT-large: 340M parameter</a:t>
            </a:r>
          </a:p>
          <a:p>
            <a:pPr lvl="1"/>
            <a:r>
              <a:rPr lang="en-US" dirty="0"/>
              <a:t>GPT-3: 175B parameters</a:t>
            </a:r>
          </a:p>
          <a:p>
            <a:pPr lvl="1"/>
            <a:r>
              <a:rPr lang="en-US" dirty="0"/>
              <a:t>GPT-4: 1.7T parameters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sz="1200" dirty="0"/>
          </a:p>
          <a:p>
            <a:pPr marL="457200" lvl="1" indent="0">
              <a:buNone/>
            </a:pPr>
            <a:endParaRPr lang="en-US" sz="1200" dirty="0"/>
          </a:p>
          <a:p>
            <a:pPr marL="457200" lvl="1" indent="0">
              <a:buNone/>
            </a:pPr>
            <a:r>
              <a:rPr lang="en-US" sz="1200" dirty="0"/>
              <a:t>[credit] </a:t>
            </a:r>
            <a:r>
              <a:rPr lang="en-US" sz="1200" dirty="0">
                <a:hlinkClick r:id="rId3"/>
              </a:rPr>
              <a:t>https://www.dailydoseofds.com/implementing-dora-an-improved-lora-from-scratch/</a:t>
            </a:r>
            <a:r>
              <a:rPr lang="en-US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27451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54D2B-647B-8F88-07CB-E205A83FC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it function?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041244-E707-B24D-2D56-0D0EDDC6AE06}"/>
              </a:ext>
            </a:extLst>
          </p:cNvPr>
          <p:cNvSpPr txBox="1"/>
          <p:nvPr/>
        </p:nvSpPr>
        <p:spPr>
          <a:xfrm>
            <a:off x="987286" y="6215876"/>
            <a:ext cx="9932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[credit] </a:t>
            </a:r>
            <a:r>
              <a:rPr lang="en-US" sz="1200" dirty="0">
                <a:hlinkClick r:id="rId2"/>
              </a:rPr>
              <a:t>https://magazine.sebastianraschka.com/p/practical-tips-for-finetuning-llms</a:t>
            </a:r>
            <a:r>
              <a:rPr lang="en-US" sz="1200" dirty="0"/>
              <a:t> </a:t>
            </a:r>
          </a:p>
        </p:txBody>
      </p:sp>
      <p:pic>
        <p:nvPicPr>
          <p:cNvPr id="8" name="Picture 7" descr="A diagram of a weight update&#10;&#10;AI-generated content may be incorrect.">
            <a:extLst>
              <a:ext uri="{FF2B5EF4-FFF2-40B4-BE49-F238E27FC236}">
                <a16:creationId xmlns:a16="http://schemas.microsoft.com/office/drawing/2014/main" id="{17828C0E-C9F0-1BCC-28FB-795EB43854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817" y="1291430"/>
            <a:ext cx="10850365" cy="4560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624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CED4A-508A-8788-3784-7470AEC6E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</a:p>
        </p:txBody>
      </p:sp>
      <p:pic>
        <p:nvPicPr>
          <p:cNvPr id="7" name="Content Placeholder 6" descr="A diagram of a flowchart&#10;&#10;AI-generated content may be incorrect.">
            <a:extLst>
              <a:ext uri="{FF2B5EF4-FFF2-40B4-BE49-F238E27FC236}">
                <a16:creationId xmlns:a16="http://schemas.microsoft.com/office/drawing/2014/main" id="{26A8B9AF-CC6D-8D8F-1C1C-CB39D7D615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5328" y="1466899"/>
            <a:ext cx="3621848" cy="4351338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F0895D-B3B1-10CE-FA0A-0FAE3DE53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378" y="1387588"/>
            <a:ext cx="6992326" cy="50394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1F56F4C-6B02-41DC-736C-3EF0FC200216}"/>
              </a:ext>
            </a:extLst>
          </p:cNvPr>
          <p:cNvSpPr txBox="1"/>
          <p:nvPr/>
        </p:nvSpPr>
        <p:spPr>
          <a:xfrm>
            <a:off x="6096000" y="6543912"/>
            <a:ext cx="9932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[credit] </a:t>
            </a:r>
            <a:r>
              <a:rPr lang="en-US" sz="1200" dirty="0">
                <a:hlinkClick r:id="rId4"/>
              </a:rPr>
              <a:t>https://magazine.sebastianraschka.com/p/practical-tips-for-finetuning-llms</a:t>
            </a:r>
            <a:r>
              <a:rPr lang="en-US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0503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19FDF-6D00-2D03-0629-EC1EF0506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687A7-1C74-0028-E9A5-F0249D1DD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B32F33-E974-9D32-D798-3A59AAEC9A7F}"/>
              </a:ext>
            </a:extLst>
          </p:cNvPr>
          <p:cNvSpPr txBox="1"/>
          <p:nvPr/>
        </p:nvSpPr>
        <p:spPr>
          <a:xfrm>
            <a:off x="6869869" y="4894336"/>
            <a:ext cx="9932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[credit] </a:t>
            </a:r>
            <a:r>
              <a:rPr lang="en-US" sz="1200" dirty="0">
                <a:hlinkClick r:id="rId2"/>
              </a:rPr>
              <a:t>https://arxiv.org/pdf/2106.09685</a:t>
            </a:r>
            <a:r>
              <a:rPr lang="en-US" sz="1200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20D30C-B8A0-3EC3-B05F-B278B910A4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5" y="1262737"/>
            <a:ext cx="4678401" cy="5281175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631EC8E-B5EB-632B-1EB0-CC8406255C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67C712D-9E4B-C976-BC04-4F3179AA3D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9869" y="1262737"/>
            <a:ext cx="3040819" cy="3635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646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C7710-E4E3-F680-5546-6B789BDD5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DoRA</a:t>
            </a:r>
            <a:r>
              <a:rPr lang="en-US" dirty="0"/>
              <a:t> Main Idea</a:t>
            </a:r>
          </a:p>
        </p:txBody>
      </p:sp>
      <p:pic>
        <p:nvPicPr>
          <p:cNvPr id="9" name="Content Placeholder 8" descr="A diagram of a line with a line and a line with a line and a line with a line and a line with a line and a line with a line and a line with a line and&#10;&#10;AI-generated content may be incorrect.">
            <a:extLst>
              <a:ext uri="{FF2B5EF4-FFF2-40B4-BE49-F238E27FC236}">
                <a16:creationId xmlns:a16="http://schemas.microsoft.com/office/drawing/2014/main" id="{E64FD582-AAFF-C2EA-5C55-4C0A6717E4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7788" y="2830806"/>
            <a:ext cx="4665743" cy="3739904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3A3ECB5-F309-7E0A-10C2-A5E3EC62BE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6352" y="2375428"/>
            <a:ext cx="4240540" cy="435133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B4AB9D5-2C26-206A-A8A4-D2D00899BBF4}"/>
              </a:ext>
            </a:extLst>
          </p:cNvPr>
          <p:cNvSpPr txBox="1"/>
          <p:nvPr/>
        </p:nvSpPr>
        <p:spPr>
          <a:xfrm>
            <a:off x="838200" y="1505243"/>
            <a:ext cx="90584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Decompose pre-trained weight matrix into magnitude vector </a:t>
            </a:r>
            <a:r>
              <a:rPr lang="en-US" b="1" i="1" dirty="0"/>
              <a:t>m </a:t>
            </a:r>
            <a:r>
              <a:rPr lang="en-US" dirty="0"/>
              <a:t> and directional matrix </a:t>
            </a:r>
            <a:r>
              <a:rPr lang="en-US" b="1" i="1" dirty="0"/>
              <a:t>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Apply </a:t>
            </a:r>
            <a:r>
              <a:rPr lang="en-US" dirty="0" err="1"/>
              <a:t>LoRA</a:t>
            </a:r>
            <a:r>
              <a:rPr lang="en-US" dirty="0"/>
              <a:t> to matrix </a:t>
            </a:r>
            <a:r>
              <a:rPr lang="en-US" b="1" i="1" dirty="0"/>
              <a:t>v </a:t>
            </a:r>
            <a:r>
              <a:rPr lang="en-US" dirty="0"/>
              <a:t>and train magnitude vector </a:t>
            </a:r>
            <a:r>
              <a:rPr lang="en-US" b="1" i="1" dirty="0"/>
              <a:t>m </a:t>
            </a:r>
            <a:r>
              <a:rPr lang="en-US" dirty="0"/>
              <a:t>separately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Decomposition is inspired by the fact that any vector can be represented as the product of its magnitude and its direction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027FCB-C408-8D48-D759-EB44ABE10267}"/>
              </a:ext>
            </a:extLst>
          </p:cNvPr>
          <p:cNvSpPr txBox="1"/>
          <p:nvPr/>
        </p:nvSpPr>
        <p:spPr>
          <a:xfrm>
            <a:off x="8894869" y="6588266"/>
            <a:ext cx="9932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[credit] </a:t>
            </a:r>
            <a:r>
              <a:rPr lang="en-US" sz="1200" dirty="0">
                <a:hlinkClick r:id="rId4"/>
              </a:rPr>
              <a:t>https://arxiv.org/pdf/2402.09353</a:t>
            </a:r>
            <a:r>
              <a:rPr lang="en-US" sz="1200" dirty="0"/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34FD0B-0B96-EBF3-7232-BA0BD2AE44FB}"/>
              </a:ext>
            </a:extLst>
          </p:cNvPr>
          <p:cNvSpPr txBox="1"/>
          <p:nvPr/>
        </p:nvSpPr>
        <p:spPr>
          <a:xfrm>
            <a:off x="903027" y="6418945"/>
            <a:ext cx="9932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[credit] </a:t>
            </a:r>
            <a:r>
              <a:rPr lang="en-US" sz="1200" dirty="0">
                <a:hlinkClick r:id="rId5"/>
              </a:rPr>
              <a:t>https://magazine.sebastianraschka.com/p/practical-tips-for-finetuning-llms</a:t>
            </a:r>
            <a:r>
              <a:rPr lang="en-US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26287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2265C-F062-4277-3B96-4682D0E93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Dora Main Ideas</a:t>
            </a:r>
          </a:p>
        </p:txBody>
      </p:sp>
      <p:pic>
        <p:nvPicPr>
          <p:cNvPr id="5" name="Content Placeholder 4" descr="A diagram of a weight matrix&#10;&#10;AI-generated content may be incorrect.">
            <a:extLst>
              <a:ext uri="{FF2B5EF4-FFF2-40B4-BE49-F238E27FC236}">
                <a16:creationId xmlns:a16="http://schemas.microsoft.com/office/drawing/2014/main" id="{8F12023B-0C42-6C56-C96E-198CE09591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556" y="1523740"/>
            <a:ext cx="7195625" cy="511339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8DF36A-1A86-9A62-7B29-8DB458B6C4F8}"/>
              </a:ext>
            </a:extLst>
          </p:cNvPr>
          <p:cNvSpPr txBox="1"/>
          <p:nvPr/>
        </p:nvSpPr>
        <p:spPr>
          <a:xfrm>
            <a:off x="3069452" y="6492875"/>
            <a:ext cx="9932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[credit] </a:t>
            </a:r>
            <a:r>
              <a:rPr lang="en-US" sz="1200" dirty="0">
                <a:hlinkClick r:id="rId3"/>
              </a:rPr>
              <a:t>https://magazine.sebastianraschka.com/p/practical-tips-for-finetuning-llms</a:t>
            </a:r>
            <a:r>
              <a:rPr lang="en-US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54858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C1CEA-5236-B336-5AD1-8F3070054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B8B60D-E9EF-3D7A-5A8D-07920A23A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018" y="1654554"/>
            <a:ext cx="7430537" cy="42773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973397-A490-64F4-963C-8A662AD312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8169" y="3558210"/>
            <a:ext cx="3485569" cy="7536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35FE155-E03B-D099-328A-A737E07046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324"/>
          <a:stretch>
            <a:fillRect/>
          </a:stretch>
        </p:blipFill>
        <p:spPr>
          <a:xfrm>
            <a:off x="7957930" y="4939391"/>
            <a:ext cx="3835388" cy="81683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5005601-DCBE-B8AC-3C82-76A28037607B}"/>
              </a:ext>
            </a:extLst>
          </p:cNvPr>
          <p:cNvCxnSpPr>
            <a:cxnSpLocks/>
          </p:cNvCxnSpPr>
          <p:nvPr/>
        </p:nvCxnSpPr>
        <p:spPr>
          <a:xfrm>
            <a:off x="6341064" y="4743565"/>
            <a:ext cx="4032709" cy="3916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A16761AE-3D43-415C-E24B-C709C935385B}"/>
              </a:ext>
            </a:extLst>
          </p:cNvPr>
          <p:cNvCxnSpPr>
            <a:cxnSpLocks/>
          </p:cNvCxnSpPr>
          <p:nvPr/>
        </p:nvCxnSpPr>
        <p:spPr>
          <a:xfrm>
            <a:off x="4293704" y="4485861"/>
            <a:ext cx="6526696" cy="649356"/>
          </a:xfrm>
          <a:prstGeom prst="curvedConnector3">
            <a:avLst>
              <a:gd name="adj1" fmla="val 10076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609D3046-8D54-0042-34DF-2C711D7F8C0B}"/>
              </a:ext>
            </a:extLst>
          </p:cNvPr>
          <p:cNvSpPr/>
          <p:nvPr/>
        </p:nvSpPr>
        <p:spPr>
          <a:xfrm>
            <a:off x="10230679" y="5135216"/>
            <a:ext cx="894522" cy="1796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Connector: Curved 28">
            <a:extLst>
              <a:ext uri="{FF2B5EF4-FFF2-40B4-BE49-F238E27FC236}">
                <a16:creationId xmlns:a16="http://schemas.microsoft.com/office/drawing/2014/main" id="{E039266F-9EAD-4056-DD4E-EA0C8E8CE4DC}"/>
              </a:ext>
            </a:extLst>
          </p:cNvPr>
          <p:cNvCxnSpPr>
            <a:cxnSpLocks/>
          </p:cNvCxnSpPr>
          <p:nvPr/>
        </p:nvCxnSpPr>
        <p:spPr>
          <a:xfrm>
            <a:off x="6304440" y="5010089"/>
            <a:ext cx="3985773" cy="519763"/>
          </a:xfrm>
          <a:prstGeom prst="curvedConnector3">
            <a:avLst>
              <a:gd name="adj1" fmla="val 3487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6" name="Picture 35">
            <a:extLst>
              <a:ext uri="{FF2B5EF4-FFF2-40B4-BE49-F238E27FC236}">
                <a16:creationId xmlns:a16="http://schemas.microsoft.com/office/drawing/2014/main" id="{D3F5BC21-138E-6865-52D4-6A570FED80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8658" y="6214965"/>
            <a:ext cx="1524213" cy="533474"/>
          </a:xfrm>
          <a:prstGeom prst="rect">
            <a:avLst/>
          </a:prstGeom>
        </p:spPr>
      </p:pic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E9F8008-1688-7524-6955-6247A1CEEB3F}"/>
              </a:ext>
            </a:extLst>
          </p:cNvPr>
          <p:cNvCxnSpPr/>
          <p:nvPr/>
        </p:nvCxnSpPr>
        <p:spPr>
          <a:xfrm>
            <a:off x="5499652" y="5811078"/>
            <a:ext cx="804788" cy="5897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8400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0AE33-96E3-D939-882D-044E9C16A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D0206-8D96-643A-316D-8C7E83F88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4DBA4D-F31F-B5C0-4F94-3219AE9D4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296780"/>
            <a:ext cx="5001837" cy="540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654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B6BE0-E23B-0683-D81C-DCFD55264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61426-E6B0-1F79-E824-B73CDB624F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Using IMDB sentiment analysis dataset</a:t>
            </a:r>
            <a:r>
              <a:rPr lang="en-US" baseline="30000" dirty="0"/>
              <a:t> [1]</a:t>
            </a:r>
          </a:p>
          <a:p>
            <a:pPr lvl="1">
              <a:lnSpc>
                <a:spcPct val="150000"/>
              </a:lnSpc>
            </a:pPr>
            <a:r>
              <a:rPr lang="en-US" baseline="30000" dirty="0"/>
              <a:t>Includes at most 30 reviews from any movie</a:t>
            </a:r>
          </a:p>
          <a:p>
            <a:pPr lvl="1">
              <a:lnSpc>
                <a:spcPct val="150000"/>
              </a:lnSpc>
            </a:pPr>
            <a:r>
              <a:rPr lang="en-US" baseline="30000" dirty="0"/>
              <a:t>Contains 50,000 labeled reviews with even categories</a:t>
            </a:r>
          </a:p>
          <a:p>
            <a:pPr lvl="1">
              <a:lnSpc>
                <a:spcPct val="150000"/>
              </a:lnSpc>
            </a:pPr>
            <a:r>
              <a:rPr lang="en-US" baseline="30000" dirty="0"/>
              <a:t>Binary classification (negative or positive review)</a:t>
            </a:r>
          </a:p>
          <a:p>
            <a:pPr lvl="1">
              <a:lnSpc>
                <a:spcPct val="150000"/>
              </a:lnSpc>
            </a:pPr>
            <a:r>
              <a:rPr lang="en-US" baseline="30000" dirty="0"/>
              <a:t>25,000 training set and 25,000 test set</a:t>
            </a:r>
          </a:p>
          <a:p>
            <a:pPr lvl="1">
              <a:lnSpc>
                <a:spcPct val="150000"/>
              </a:lnSpc>
            </a:pPr>
            <a:r>
              <a:rPr lang="en-US" baseline="30000" dirty="0"/>
              <a:t>Used 20% of training for validation</a:t>
            </a:r>
          </a:p>
          <a:p>
            <a:pPr lvl="1">
              <a:lnSpc>
                <a:spcPct val="150000"/>
              </a:lnSpc>
            </a:pPr>
            <a:endParaRPr lang="en-US" baseline="30000" dirty="0"/>
          </a:p>
          <a:p>
            <a:pPr>
              <a:lnSpc>
                <a:spcPct val="150000"/>
              </a:lnSpc>
            </a:pPr>
            <a:r>
              <a:rPr lang="en-US" baseline="30000" dirty="0"/>
              <a:t>Training </a:t>
            </a:r>
            <a:r>
              <a:rPr lang="en-US" baseline="30000" dirty="0" err="1"/>
              <a:t>DistilBERT</a:t>
            </a:r>
            <a:r>
              <a:rPr lang="en-US" baseline="30000" dirty="0"/>
              <a:t> with all layers, only the top 2 layers, and only the head</a:t>
            </a:r>
          </a:p>
          <a:p>
            <a:pPr>
              <a:lnSpc>
                <a:spcPct val="150000"/>
              </a:lnSpc>
            </a:pPr>
            <a:r>
              <a:rPr lang="en-US" baseline="30000" dirty="0"/>
              <a:t>Training </a:t>
            </a:r>
            <a:r>
              <a:rPr lang="en-US" baseline="30000" dirty="0" err="1"/>
              <a:t>DistilBERT</a:t>
            </a:r>
            <a:r>
              <a:rPr lang="en-US" baseline="30000" dirty="0"/>
              <a:t> using </a:t>
            </a:r>
            <a:r>
              <a:rPr lang="en-US" baseline="30000" dirty="0" err="1"/>
              <a:t>LoRA</a:t>
            </a:r>
            <a:r>
              <a:rPr lang="en-US" baseline="30000" dirty="0"/>
              <a:t> and </a:t>
            </a:r>
            <a:r>
              <a:rPr lang="en-US" baseline="30000" dirty="0" err="1"/>
              <a:t>DoRA</a:t>
            </a:r>
            <a:endParaRPr lang="en-US" baseline="30000" dirty="0"/>
          </a:p>
        </p:txBody>
      </p:sp>
    </p:spTree>
    <p:extLst>
      <p:ext uri="{BB962C8B-B14F-4D97-AF65-F5344CB8AC3E}">
        <p14:creationId xmlns:p14="http://schemas.microsoft.com/office/powerpoint/2010/main" val="720385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17B2-8281-72BE-D93B-35FBC3661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Convergence graphs</a:t>
            </a:r>
          </a:p>
        </p:txBody>
      </p:sp>
      <p:pic>
        <p:nvPicPr>
          <p:cNvPr id="5" name="Content Placeholder 4" descr="A graph with a number of lines&#10;&#10;AI-generated content may be incorrect.">
            <a:extLst>
              <a:ext uri="{FF2B5EF4-FFF2-40B4-BE49-F238E27FC236}">
                <a16:creationId xmlns:a16="http://schemas.microsoft.com/office/drawing/2014/main" id="{7AF7D35D-B9D2-B13D-6A1A-563272F882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978" y="1690688"/>
            <a:ext cx="5375395" cy="250851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4AF0B8-8C9A-9A3B-5A77-22B473A70FBE}"/>
              </a:ext>
            </a:extLst>
          </p:cNvPr>
          <p:cNvSpPr txBox="1"/>
          <p:nvPr/>
        </p:nvSpPr>
        <p:spPr>
          <a:xfrm>
            <a:off x="1406770" y="1522773"/>
            <a:ext cx="3967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DistilBERT</a:t>
            </a:r>
            <a:r>
              <a:rPr lang="en-US" dirty="0"/>
              <a:t> with Head Layer Only</a:t>
            </a:r>
          </a:p>
        </p:txBody>
      </p:sp>
      <p:pic>
        <p:nvPicPr>
          <p:cNvPr id="8" name="Picture 7" descr="A graph of a graph&#10;&#10;AI-generated content may be incorrect.">
            <a:extLst>
              <a:ext uri="{FF2B5EF4-FFF2-40B4-BE49-F238E27FC236}">
                <a16:creationId xmlns:a16="http://schemas.microsoft.com/office/drawing/2014/main" id="{A2BDBC0C-6FA1-7A4A-F053-B898225DC3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978" y="4199206"/>
            <a:ext cx="5756867" cy="26865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F2114A5-EBF7-2730-623C-ECCFF88FE178}"/>
              </a:ext>
            </a:extLst>
          </p:cNvPr>
          <p:cNvSpPr txBox="1"/>
          <p:nvPr/>
        </p:nvSpPr>
        <p:spPr>
          <a:xfrm>
            <a:off x="1540413" y="4094595"/>
            <a:ext cx="3967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DistilBERT</a:t>
            </a:r>
            <a:r>
              <a:rPr lang="en-US" dirty="0"/>
              <a:t> with Top 2 Layers</a:t>
            </a:r>
          </a:p>
        </p:txBody>
      </p:sp>
      <p:pic>
        <p:nvPicPr>
          <p:cNvPr id="11" name="Picture 10" descr="A graph of a graph&#10;&#10;AI-generated content may be incorrect.">
            <a:extLst>
              <a:ext uri="{FF2B5EF4-FFF2-40B4-BE49-F238E27FC236}">
                <a16:creationId xmlns:a16="http://schemas.microsoft.com/office/drawing/2014/main" id="{C6BE682E-120B-188D-D752-0B6D247588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9052" y="2644726"/>
            <a:ext cx="6096000" cy="28448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8844E5E-737C-4BDE-C0BF-B7C21C622EAA}"/>
              </a:ext>
            </a:extLst>
          </p:cNvPr>
          <p:cNvSpPr txBox="1"/>
          <p:nvPr/>
        </p:nvSpPr>
        <p:spPr>
          <a:xfrm>
            <a:off x="7228450" y="2460060"/>
            <a:ext cx="3967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DistilBERT</a:t>
            </a:r>
            <a:r>
              <a:rPr lang="en-US" dirty="0"/>
              <a:t> with All Layers</a:t>
            </a:r>
          </a:p>
        </p:txBody>
      </p:sp>
    </p:spTree>
    <p:extLst>
      <p:ext uri="{BB962C8B-B14F-4D97-AF65-F5344CB8AC3E}">
        <p14:creationId xmlns:p14="http://schemas.microsoft.com/office/powerpoint/2010/main" val="9585609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06E78-B402-83F4-5F09-F445DFA44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Convergence Graphs</a:t>
            </a:r>
          </a:p>
        </p:txBody>
      </p:sp>
      <p:pic>
        <p:nvPicPr>
          <p:cNvPr id="5" name="Content Placeholder 4" descr="A graph with different colored lines&#10;&#10;AI-generated content may be incorrect.">
            <a:extLst>
              <a:ext uri="{FF2B5EF4-FFF2-40B4-BE49-F238E27FC236}">
                <a16:creationId xmlns:a16="http://schemas.microsoft.com/office/drawing/2014/main" id="{DB008BF5-4874-FF61-6032-4527D8CD98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90" t="7196" r="7001" b="3945"/>
          <a:stretch>
            <a:fillRect/>
          </a:stretch>
        </p:blipFill>
        <p:spPr>
          <a:xfrm>
            <a:off x="6471139" y="4060804"/>
            <a:ext cx="5720862" cy="2797196"/>
          </a:xfrm>
        </p:spPr>
      </p:pic>
      <p:pic>
        <p:nvPicPr>
          <p:cNvPr id="7" name="Picture 6" descr="A graph of a graph&#10;&#10;AI-generated content may be incorrect.">
            <a:extLst>
              <a:ext uri="{FF2B5EF4-FFF2-40B4-BE49-F238E27FC236}">
                <a16:creationId xmlns:a16="http://schemas.microsoft.com/office/drawing/2014/main" id="{E127E3D8-FF1D-DBF3-DE24-55171F3BBB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92" t="7597" r="6699" b="3545"/>
          <a:stretch>
            <a:fillRect/>
          </a:stretch>
        </p:blipFill>
        <p:spPr>
          <a:xfrm>
            <a:off x="248530" y="1690688"/>
            <a:ext cx="6295696" cy="30782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792A0B7-A947-1048-2E86-E3BE76B63DB0}"/>
              </a:ext>
            </a:extLst>
          </p:cNvPr>
          <p:cNvSpPr txBox="1"/>
          <p:nvPr/>
        </p:nvSpPr>
        <p:spPr>
          <a:xfrm>
            <a:off x="1730326" y="1321356"/>
            <a:ext cx="3967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DistilBERT</a:t>
            </a:r>
            <a:r>
              <a:rPr lang="en-US" dirty="0"/>
              <a:t> with </a:t>
            </a:r>
            <a:r>
              <a:rPr lang="en-US" dirty="0" err="1"/>
              <a:t>LoRA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DFA1F1-0276-A4FE-1B83-2330EC68FF3D}"/>
              </a:ext>
            </a:extLst>
          </p:cNvPr>
          <p:cNvSpPr txBox="1"/>
          <p:nvPr/>
        </p:nvSpPr>
        <p:spPr>
          <a:xfrm>
            <a:off x="8302284" y="3691472"/>
            <a:ext cx="3967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DistilBERT</a:t>
            </a:r>
            <a:r>
              <a:rPr lang="en-US" dirty="0"/>
              <a:t> with </a:t>
            </a:r>
            <a:r>
              <a:rPr lang="en-US" dirty="0" err="1"/>
              <a:t>DoRA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0779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DD4B4-8427-5126-F4D2-2B768E43D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3A9A5B3-475B-ECB1-13BB-C9D005DA0A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0951688"/>
              </p:ext>
            </p:extLst>
          </p:nvPr>
        </p:nvGraphicFramePr>
        <p:xfrm>
          <a:off x="838200" y="1805746"/>
          <a:ext cx="10602116" cy="3460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4588">
                  <a:extLst>
                    <a:ext uri="{9D8B030D-6E8A-4147-A177-3AD203B41FA5}">
                      <a16:colId xmlns:a16="http://schemas.microsoft.com/office/drawing/2014/main" val="3707839697"/>
                    </a:ext>
                  </a:extLst>
                </a:gridCol>
                <a:gridCol w="1514588">
                  <a:extLst>
                    <a:ext uri="{9D8B030D-6E8A-4147-A177-3AD203B41FA5}">
                      <a16:colId xmlns:a16="http://schemas.microsoft.com/office/drawing/2014/main" val="1832305849"/>
                    </a:ext>
                  </a:extLst>
                </a:gridCol>
                <a:gridCol w="1514588">
                  <a:extLst>
                    <a:ext uri="{9D8B030D-6E8A-4147-A177-3AD203B41FA5}">
                      <a16:colId xmlns:a16="http://schemas.microsoft.com/office/drawing/2014/main" val="3758315131"/>
                    </a:ext>
                  </a:extLst>
                </a:gridCol>
                <a:gridCol w="1514588">
                  <a:extLst>
                    <a:ext uri="{9D8B030D-6E8A-4147-A177-3AD203B41FA5}">
                      <a16:colId xmlns:a16="http://schemas.microsoft.com/office/drawing/2014/main" val="2679646045"/>
                    </a:ext>
                  </a:extLst>
                </a:gridCol>
                <a:gridCol w="1514588">
                  <a:extLst>
                    <a:ext uri="{9D8B030D-6E8A-4147-A177-3AD203B41FA5}">
                      <a16:colId xmlns:a16="http://schemas.microsoft.com/office/drawing/2014/main" val="1826610154"/>
                    </a:ext>
                  </a:extLst>
                </a:gridCol>
                <a:gridCol w="1514588">
                  <a:extLst>
                    <a:ext uri="{9D8B030D-6E8A-4147-A177-3AD203B41FA5}">
                      <a16:colId xmlns:a16="http://schemas.microsoft.com/office/drawing/2014/main" val="3333736291"/>
                    </a:ext>
                  </a:extLst>
                </a:gridCol>
                <a:gridCol w="1514588">
                  <a:extLst>
                    <a:ext uri="{9D8B030D-6E8A-4147-A177-3AD203B41FA5}">
                      <a16:colId xmlns:a16="http://schemas.microsoft.com/office/drawing/2014/main" val="826688725"/>
                    </a:ext>
                  </a:extLst>
                </a:gridCol>
              </a:tblGrid>
              <a:tr h="654748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Parameters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% of Parameters Trained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Avg. Time per Epoch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Accuracy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F-1 Measure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Loss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1072929"/>
                  </a:ext>
                </a:extLst>
              </a:tr>
              <a:tr h="46767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solidFill>
                            <a:sysClr val="windowText" lastClr="000000"/>
                          </a:solidFill>
                        </a:rPr>
                        <a:t>DistilBERT</a:t>
                      </a:r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  <a:p>
                      <a:pPr algn="ctr"/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(all weights)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66,955,010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119.3921 sec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ysClr val="windowText" lastClr="000000"/>
                          </a:solidFill>
                        </a:rPr>
                        <a:t>0.9237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ysClr val="windowText" lastClr="000000"/>
                          </a:solidFill>
                        </a:rPr>
                        <a:t>0.9237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0.2018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2284327"/>
                  </a:ext>
                </a:extLst>
              </a:tr>
              <a:tr h="46767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solidFill>
                            <a:sysClr val="windowText" lastClr="000000"/>
                          </a:solidFill>
                        </a:rPr>
                        <a:t>DistilBERT</a:t>
                      </a:r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  <a:p>
                      <a:pPr algn="ctr"/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(top 2 layers)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14,767,874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22.1%</a:t>
                      </a:r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64.5824 sec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0.9230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0.9230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0.1962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1176022"/>
                  </a:ext>
                </a:extLst>
              </a:tr>
              <a:tr h="46767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solidFill>
                            <a:sysClr val="windowText" lastClr="000000"/>
                          </a:solidFill>
                        </a:rPr>
                        <a:t>DistilBERT</a:t>
                      </a:r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  <a:p>
                      <a:pPr algn="ctr"/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(head only)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592,130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0.88%</a:t>
                      </a:r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ysClr val="windowText" lastClr="000000"/>
                          </a:solidFill>
                        </a:rPr>
                        <a:t>42.2114 sec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0.8524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0.8524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0.3456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298428"/>
                  </a:ext>
                </a:extLst>
              </a:tr>
              <a:tr h="46767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solidFill>
                            <a:sysClr val="windowText" lastClr="000000"/>
                          </a:solidFill>
                        </a:rPr>
                        <a:t>DistilBERT</a:t>
                      </a:r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  <a:p>
                      <a:pPr algn="ctr"/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(</a:t>
                      </a:r>
                      <a:r>
                        <a:rPr lang="en-US" sz="1200" dirty="0" err="1">
                          <a:solidFill>
                            <a:sysClr val="windowText" lastClr="000000"/>
                          </a:solidFill>
                        </a:rPr>
                        <a:t>DoRA</a:t>
                      </a:r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 r=8)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156,672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0.23%</a:t>
                      </a:r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96.9845 sec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0.9136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0.9136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0.2271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2058083"/>
                  </a:ext>
                </a:extLst>
              </a:tr>
              <a:tr h="46767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solidFill>
                            <a:sysClr val="windowText" lastClr="000000"/>
                          </a:solidFill>
                        </a:rPr>
                        <a:t>DistilBERT</a:t>
                      </a:r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  <a:p>
                      <a:pPr algn="ctr"/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(</a:t>
                      </a:r>
                      <a:r>
                        <a:rPr lang="en-US" sz="1200" dirty="0" err="1">
                          <a:solidFill>
                            <a:sysClr val="windowText" lastClr="000000"/>
                          </a:solidFill>
                        </a:rPr>
                        <a:t>LoRA</a:t>
                      </a:r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 r=8)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ysClr val="windowText" lastClr="000000"/>
                          </a:solidFill>
                        </a:rPr>
                        <a:t>147,456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0.22%</a:t>
                      </a:r>
                      <a:endParaRPr lang="en-US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100.5293 sec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0.9150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0.9150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0.2241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382790"/>
                  </a:ext>
                </a:extLst>
              </a:tr>
              <a:tr h="46767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solidFill>
                            <a:sysClr val="windowText" lastClr="000000"/>
                          </a:solidFill>
                        </a:rPr>
                        <a:t>DistilBERT</a:t>
                      </a:r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  <a:p>
                      <a:pPr algn="ctr"/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(Dora r=4)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ysClr val="windowText" lastClr="000000"/>
                          </a:solidFill>
                        </a:rPr>
                        <a:t>82,944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ysClr val="windowText" lastClr="000000"/>
                          </a:solidFill>
                        </a:rPr>
                        <a:t>0.12%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96.1715 sec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0.9146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0.9146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0.2251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07405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468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385</Words>
  <Application>Microsoft Office PowerPoint</Application>
  <PresentationFormat>Widescreen</PresentationFormat>
  <Paragraphs>110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DoRA</vt:lpstr>
      <vt:lpstr>Main Purpose</vt:lpstr>
      <vt:lpstr>How does it function?</vt:lpstr>
      <vt:lpstr>Implementation</vt:lpstr>
      <vt:lpstr>Implementation</vt:lpstr>
      <vt:lpstr>DoRA Main Idea</vt:lpstr>
      <vt:lpstr>Dora Main Ideas</vt:lpstr>
      <vt:lpstr>Implementation</vt:lpstr>
      <vt:lpstr>Implementation</vt:lpstr>
      <vt:lpstr>Experiments</vt:lpstr>
      <vt:lpstr>Convergence graphs</vt:lpstr>
      <vt:lpstr>Convergence Graphs</vt:lpstr>
      <vt:lpstr>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Bogdan Baloiu</dc:creator>
  <cp:lastModifiedBy>Bogdan Baloiu</cp:lastModifiedBy>
  <cp:revision>6</cp:revision>
  <dcterms:created xsi:type="dcterms:W3CDTF">2025-11-27T21:01:55Z</dcterms:created>
  <dcterms:modified xsi:type="dcterms:W3CDTF">2025-11-27T23:24:15Z</dcterms:modified>
</cp:coreProperties>
</file>